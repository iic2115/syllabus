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7620000" cx="13546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yyMbuHwPfEsT8JAZdJqCPNTFn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9A8E42-8876-4139-B574-DBFFCE0D0BAC}">
  <a:tblStyle styleId="{EA9A8E42-8876-4139-B574-DBFFCE0D0B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1b66b4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11b66b413b_0_10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1b66b413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11b66b413b_0_17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1b66b41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11b66b413b_0_25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11b66b413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11b66b413b_0_33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015961" y="1247070"/>
            <a:ext cx="11514217" cy="2652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Font typeface="Calibri"/>
              <a:buNone/>
              <a:defRPr sz="6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693267" y="4002264"/>
            <a:ext cx="10159604" cy="183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/>
            </a:lvl1pPr>
            <a:lvl2pPr lvl="1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sz="2222"/>
            </a:lvl2pPr>
            <a:lvl3pPr lvl="2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4pPr>
            <a:lvl5pPr lvl="4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5pPr>
            <a:lvl6pPr lvl="5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6pPr>
            <a:lvl7pPr lvl="6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7pPr>
            <a:lvl8pPr lvl="7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8pPr>
            <a:lvl9pPr lvl="8" algn="ctr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931297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931297" y="2028472"/>
            <a:ext cx="11683544" cy="483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924243" y="1899712"/>
            <a:ext cx="11683544" cy="31697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Font typeface="Calibri"/>
              <a:buNone/>
              <a:defRPr sz="6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924243" y="5099406"/>
            <a:ext cx="11683544" cy="1666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2222"/>
              <a:buNone/>
              <a:defRPr sz="222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1778"/>
              <a:buNone/>
              <a:defRPr sz="177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931297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931297" y="2028472"/>
            <a:ext cx="5757109" cy="483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6857732" y="2028472"/>
            <a:ext cx="5757109" cy="483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933061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933063" y="1867959"/>
            <a:ext cx="5730651" cy="9154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933063" y="2783417"/>
            <a:ext cx="5730651" cy="409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6857733" y="1867959"/>
            <a:ext cx="5758873" cy="9154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1pPr>
            <a:lvl2pPr indent="-2286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None/>
              <a:defRPr b="1" sz="2222"/>
            </a:lvl2pPr>
            <a:lvl3pPr indent="-2286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4pPr>
            <a:lvl5pPr indent="-2286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5pPr>
            <a:lvl6pPr indent="-2286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6pPr>
            <a:lvl7pPr indent="-2286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7pPr>
            <a:lvl8pPr indent="-2286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8pPr>
            <a:lvl9pPr indent="-2286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b="1" sz="1778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6857733" y="2783417"/>
            <a:ext cx="5758873" cy="409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931297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933062" y="508000"/>
            <a:ext cx="4368982" cy="17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Calibri"/>
              <a:buNone/>
              <a:defRPr sz="355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758873" y="1097142"/>
            <a:ext cx="6857732" cy="5415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406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3556"/>
              <a:buChar char="•"/>
              <a:defRPr sz="3556"/>
            </a:lvl1pPr>
            <a:lvl2pPr indent="-426148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3111"/>
              <a:buChar char="•"/>
              <a:defRPr sz="3111"/>
            </a:lvl2pPr>
            <a:lvl3pPr indent="-397954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69697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4pPr>
            <a:lvl5pPr indent="-369697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5pPr>
            <a:lvl6pPr indent="-369697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6pPr>
            <a:lvl7pPr indent="-369697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7pPr>
            <a:lvl8pPr indent="-369696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8pPr>
            <a:lvl9pPr indent="-369696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Char char="•"/>
              <a:defRPr sz="2222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933062" y="2286000"/>
            <a:ext cx="4368982" cy="4235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1pPr>
            <a:lvl2pPr indent="-2286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2pPr>
            <a:lvl3pPr indent="-2286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4pPr>
            <a:lvl5pPr indent="-2286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5pPr>
            <a:lvl6pPr indent="-2286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6pPr>
            <a:lvl7pPr indent="-2286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7pPr>
            <a:lvl8pPr indent="-2286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8pPr>
            <a:lvl9pPr indent="-2286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933062" y="508000"/>
            <a:ext cx="4368982" cy="17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Calibri"/>
              <a:buNone/>
              <a:defRPr sz="355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758873" y="1097142"/>
            <a:ext cx="6857732" cy="541513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933062" y="2286000"/>
            <a:ext cx="4368982" cy="4235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778"/>
              <a:buNone/>
              <a:defRPr sz="1778"/>
            </a:lvl1pPr>
            <a:lvl2pPr indent="-2286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6"/>
            </a:lvl2pPr>
            <a:lvl3pPr indent="-2286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4pPr>
            <a:lvl5pPr indent="-2286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5pPr>
            <a:lvl6pPr indent="-2286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6pPr>
            <a:lvl7pPr indent="-2286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7pPr>
            <a:lvl8pPr indent="-2286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8pPr>
            <a:lvl9pPr indent="-2286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111"/>
              <a:buNone/>
              <a:defRPr sz="1111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931297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4355659" y="-1395890"/>
            <a:ext cx="4834820" cy="11683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925600" y="2174050"/>
            <a:ext cx="6457598" cy="2920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999164" y="-662172"/>
            <a:ext cx="6457598" cy="8593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25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p2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118" name="Google Shape;118;p26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26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120" name="Google Shape;120;p26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136" name="Google Shape;136;p29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3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931297" y="405697"/>
            <a:ext cx="11683544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Calibri"/>
              <a:buNone/>
              <a:defRPr b="0" i="0" sz="48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931297" y="2028472"/>
            <a:ext cx="11683544" cy="483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148" lvl="0" marL="457200" marR="0" rtl="0" algn="l">
              <a:lnSpc>
                <a:spcPct val="90000"/>
              </a:lnSpc>
              <a:spcBef>
                <a:spcPts val="1111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Char char="•"/>
              <a:defRPr b="0" i="0" sz="31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7954" lvl="1" marL="9144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9697" lvl="2" marL="13716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222"/>
              <a:buFont typeface="Arial"/>
              <a:buChar char="•"/>
              <a:defRPr b="0" i="0" sz="2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931297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487158" y="7062614"/>
            <a:ext cx="4571822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9566960" y="7062614"/>
            <a:ext cx="3047881" cy="405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33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466037" y="3481484"/>
            <a:ext cx="12704164" cy="6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6"/>
              <a:buFont typeface="Calibri"/>
              <a:buNone/>
            </a:pPr>
            <a:r>
              <a:rPr lang="en-US" sz="3556">
                <a:solidFill>
                  <a:srgbClr val="000000"/>
                </a:solidFill>
              </a:rPr>
              <a:t>IIC2115 - Programación como Herramienta para la Ingeniería</a:t>
            </a:r>
            <a:endParaRPr sz="3556"/>
          </a:p>
        </p:txBody>
      </p:sp>
      <p:sp>
        <p:nvSpPr>
          <p:cNvPr id="164" name="Google Shape;164;p1"/>
          <p:cNvSpPr txBox="1"/>
          <p:nvPr/>
        </p:nvSpPr>
        <p:spPr>
          <a:xfrm>
            <a:off x="1693267" y="694896"/>
            <a:ext cx="10213399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pic>
        <p:nvPicPr>
          <p:cNvPr id="165" name="Google Shape;1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49" y="335151"/>
            <a:ext cx="1589202" cy="158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"/>
          <p:cNvSpPr txBox="1"/>
          <p:nvPr/>
        </p:nvSpPr>
        <p:spPr>
          <a:xfrm>
            <a:off x="9961147" y="6789950"/>
            <a:ext cx="2819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8"/>
              <a:buFont typeface="Calibri"/>
              <a:buNone/>
            </a:pPr>
            <a:r>
              <a:rPr b="1" i="0" lang="en-US" sz="177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-US" sz="1778">
                <a:latin typeface="Calibri"/>
                <a:ea typeface="Calibri"/>
                <a:cs typeface="Calibri"/>
                <a:sym typeface="Calibri"/>
              </a:rPr>
              <a:t>Pablo Seisdedos</a:t>
            </a:r>
            <a:endParaRPr/>
          </a:p>
        </p:txBody>
      </p:sp>
      <p:sp>
        <p:nvSpPr>
          <p:cNvPr id="167" name="Google Shape;167;p1"/>
          <p:cNvSpPr txBox="1"/>
          <p:nvPr>
            <p:ph idx="1" type="subTitle"/>
          </p:nvPr>
        </p:nvSpPr>
        <p:spPr>
          <a:xfrm>
            <a:off x="1693268" y="4378116"/>
            <a:ext cx="101595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111"/>
              <a:buNone/>
            </a:pPr>
            <a:r>
              <a:rPr lang="en-US" sz="311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Bases de datos relacionales y </a:t>
            </a:r>
            <a:r>
              <a:rPr lang="en-US" sz="3111">
                <a:solidFill>
                  <a:srgbClr val="7F7F7F"/>
                </a:solidFill>
              </a:rPr>
              <a:t>Web Scraping</a:t>
            </a:r>
            <a:endParaRPr sz="2222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>
            <p:ph type="title"/>
          </p:nvPr>
        </p:nvSpPr>
        <p:spPr>
          <a:xfrm>
            <a:off x="720000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es una base de datos?</a:t>
            </a:r>
            <a:endParaRPr/>
          </a:p>
        </p:txBody>
      </p:sp>
      <p:sp>
        <p:nvSpPr>
          <p:cNvPr id="173" name="Google Shape;173;p2"/>
          <p:cNvSpPr txBox="1"/>
          <p:nvPr>
            <p:ph idx="1" type="body"/>
          </p:nvPr>
        </p:nvSpPr>
        <p:spPr>
          <a:xfrm>
            <a:off x="677307" y="1778000"/>
            <a:ext cx="580773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60000" lvl="0" marL="3600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AutoNum type="arabicPeriod"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Corresponde a un conjunto de datos de un mismo contexto y almacenados bajo cierta lógica/estructura e indexados para su posterior uso eficiente.</a:t>
            </a:r>
            <a:endParaRPr/>
          </a:p>
          <a:p>
            <a:pPr indent="-233000" lvl="0" marL="3600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0000" lvl="0" marL="360000" rtl="0" algn="just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AutoNum type="arabicPeriod"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el caso de una base relacional, es una colección de una o más relaciones, donde cada relación es una tabla con filas y columnas.</a:t>
            </a:r>
            <a:endParaRPr/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9333" y="2153816"/>
            <a:ext cx="3136712" cy="3521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0581" y="599746"/>
            <a:ext cx="9032239" cy="6420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150813" lvl="0" marL="3794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50813" lvl="0" marL="379413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4"/>
          <p:cNvPicPr preferRelativeResize="0"/>
          <p:nvPr/>
        </p:nvPicPr>
        <p:blipFill rotWithShape="1">
          <a:blip r:embed="rId3">
            <a:alphaModFix/>
          </a:blip>
          <a:srcRect b="13428" l="0" r="0" t="0"/>
          <a:stretch/>
        </p:blipFill>
        <p:spPr>
          <a:xfrm>
            <a:off x="7692094" y="265898"/>
            <a:ext cx="2150844" cy="209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 txBox="1"/>
          <p:nvPr/>
        </p:nvSpPr>
        <p:spPr>
          <a:xfrm>
            <a:off x="9842938" y="970336"/>
            <a:ext cx="18986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Base de datos (Database)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1248972" y="3092681"/>
            <a:ext cx="25603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Esquema (Schema)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2044491" y="6391924"/>
            <a:ext cx="17540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Tabla (Table)</a:t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307" y="3772195"/>
            <a:ext cx="3703647" cy="263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34323" r="37850" t="37080"/>
          <a:stretch/>
        </p:blipFill>
        <p:spPr>
          <a:xfrm>
            <a:off x="1948533" y="4746104"/>
            <a:ext cx="1030609" cy="16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6406" y="4221884"/>
            <a:ext cx="2895658" cy="217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7516" y="3999757"/>
            <a:ext cx="4232962" cy="2788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307" y="265898"/>
            <a:ext cx="3703647" cy="263271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"/>
          <p:cNvSpPr/>
          <p:nvPr/>
        </p:nvSpPr>
        <p:spPr>
          <a:xfrm>
            <a:off x="191386" y="85060"/>
            <a:ext cx="13134411" cy="7049387"/>
          </a:xfrm>
          <a:custGeom>
            <a:rect b="b" l="l" r="r" t="t"/>
            <a:pathLst>
              <a:path extrusionOk="0" h="7049387" w="13460823">
                <a:moveTo>
                  <a:pt x="8187070" y="2083982"/>
                </a:moveTo>
                <a:lnTo>
                  <a:pt x="8187070" y="2083982"/>
                </a:lnTo>
                <a:cubicBezTo>
                  <a:pt x="7918101" y="2110500"/>
                  <a:pt x="7473038" y="2159843"/>
                  <a:pt x="7155712" y="2179675"/>
                </a:cubicBezTo>
                <a:cubicBezTo>
                  <a:pt x="7077811" y="2184544"/>
                  <a:pt x="6999767" y="2186763"/>
                  <a:pt x="6921795" y="2190307"/>
                </a:cubicBezTo>
                <a:cubicBezTo>
                  <a:pt x="6693095" y="2211099"/>
                  <a:pt x="6670237" y="2215845"/>
                  <a:pt x="6337005" y="2211573"/>
                </a:cubicBezTo>
                <a:cubicBezTo>
                  <a:pt x="6216304" y="2210025"/>
                  <a:pt x="6096000" y="2197396"/>
                  <a:pt x="5975498" y="2190307"/>
                </a:cubicBezTo>
                <a:cubicBezTo>
                  <a:pt x="5932968" y="2176130"/>
                  <a:pt x="5889690" y="2164026"/>
                  <a:pt x="5847907" y="2147777"/>
                </a:cubicBezTo>
                <a:cubicBezTo>
                  <a:pt x="5819451" y="2136711"/>
                  <a:pt x="5700565" y="2070409"/>
                  <a:pt x="5688419" y="2062717"/>
                </a:cubicBezTo>
                <a:cubicBezTo>
                  <a:pt x="5612849" y="2014856"/>
                  <a:pt x="5543008" y="1957876"/>
                  <a:pt x="5465135" y="1913861"/>
                </a:cubicBezTo>
                <a:cubicBezTo>
                  <a:pt x="5450657" y="1905678"/>
                  <a:pt x="5213227" y="1782837"/>
                  <a:pt x="5146158" y="1722475"/>
                </a:cubicBezTo>
                <a:cubicBezTo>
                  <a:pt x="5097726" y="1678886"/>
                  <a:pt x="5054009" y="1630326"/>
                  <a:pt x="5007935" y="1584252"/>
                </a:cubicBezTo>
                <a:lnTo>
                  <a:pt x="4922874" y="1499191"/>
                </a:lnTo>
                <a:cubicBezTo>
                  <a:pt x="4860294" y="1436611"/>
                  <a:pt x="4790078" y="1369109"/>
                  <a:pt x="4742121" y="1297173"/>
                </a:cubicBezTo>
                <a:cubicBezTo>
                  <a:pt x="4699591" y="1233378"/>
                  <a:pt x="4651765" y="1172811"/>
                  <a:pt x="4614530" y="1105787"/>
                </a:cubicBezTo>
                <a:cubicBezTo>
                  <a:pt x="4579088" y="1041991"/>
                  <a:pt x="4540843" y="979674"/>
                  <a:pt x="4508205" y="914400"/>
                </a:cubicBezTo>
                <a:cubicBezTo>
                  <a:pt x="4494028" y="886047"/>
                  <a:pt x="4482360" y="856293"/>
                  <a:pt x="4465674" y="829340"/>
                </a:cubicBezTo>
                <a:cubicBezTo>
                  <a:pt x="4436178" y="781693"/>
                  <a:pt x="4402117" y="737026"/>
                  <a:pt x="4369981" y="691117"/>
                </a:cubicBezTo>
                <a:cubicBezTo>
                  <a:pt x="4352497" y="666140"/>
                  <a:pt x="4336337" y="640111"/>
                  <a:pt x="4316819" y="616689"/>
                </a:cubicBezTo>
                <a:cubicBezTo>
                  <a:pt x="4299098" y="595424"/>
                  <a:pt x="4280265" y="575038"/>
                  <a:pt x="4263656" y="552893"/>
                </a:cubicBezTo>
                <a:cubicBezTo>
                  <a:pt x="4223145" y="498878"/>
                  <a:pt x="4218670" y="473193"/>
                  <a:pt x="4167963" y="425303"/>
                </a:cubicBezTo>
                <a:cubicBezTo>
                  <a:pt x="4117024" y="377194"/>
                  <a:pt x="4023005" y="298699"/>
                  <a:pt x="3955312" y="255182"/>
                </a:cubicBezTo>
                <a:cubicBezTo>
                  <a:pt x="3931276" y="239730"/>
                  <a:pt x="3906170" y="225960"/>
                  <a:pt x="3880884" y="212652"/>
                </a:cubicBezTo>
                <a:cubicBezTo>
                  <a:pt x="3838806" y="190506"/>
                  <a:pt x="3798838" y="162519"/>
                  <a:pt x="3753293" y="148856"/>
                </a:cubicBezTo>
                <a:cubicBezTo>
                  <a:pt x="3717851" y="138224"/>
                  <a:pt x="3682071" y="128660"/>
                  <a:pt x="3646967" y="116959"/>
                </a:cubicBezTo>
                <a:cubicBezTo>
                  <a:pt x="3618239" y="107383"/>
                  <a:pt x="3590911" y="93762"/>
                  <a:pt x="3561907" y="85061"/>
                </a:cubicBezTo>
                <a:cubicBezTo>
                  <a:pt x="3484496" y="61838"/>
                  <a:pt x="3408410" y="29308"/>
                  <a:pt x="3327991" y="21266"/>
                </a:cubicBezTo>
                <a:lnTo>
                  <a:pt x="3115340" y="0"/>
                </a:lnTo>
                <a:lnTo>
                  <a:pt x="2838893" y="10633"/>
                </a:lnTo>
                <a:cubicBezTo>
                  <a:pt x="2803454" y="12602"/>
                  <a:pt x="2688235" y="26080"/>
                  <a:pt x="2647507" y="31898"/>
                </a:cubicBezTo>
                <a:cubicBezTo>
                  <a:pt x="2419978" y="64402"/>
                  <a:pt x="2766655" y="18847"/>
                  <a:pt x="2509284" y="53163"/>
                </a:cubicBezTo>
                <a:cubicBezTo>
                  <a:pt x="2384472" y="69804"/>
                  <a:pt x="2419678" y="64080"/>
                  <a:pt x="2254102" y="74428"/>
                </a:cubicBezTo>
                <a:lnTo>
                  <a:pt x="2179674" y="85061"/>
                </a:lnTo>
                <a:cubicBezTo>
                  <a:pt x="2074112" y="101301"/>
                  <a:pt x="2157037" y="90914"/>
                  <a:pt x="2041451" y="106326"/>
                </a:cubicBezTo>
                <a:cubicBezTo>
                  <a:pt x="1941879" y="119603"/>
                  <a:pt x="1951512" y="117403"/>
                  <a:pt x="1839433" y="127591"/>
                </a:cubicBezTo>
                <a:cubicBezTo>
                  <a:pt x="1803991" y="134679"/>
                  <a:pt x="1768809" y="143219"/>
                  <a:pt x="1733107" y="148856"/>
                </a:cubicBezTo>
                <a:cubicBezTo>
                  <a:pt x="1699741" y="154124"/>
                  <a:pt x="1560887" y="166615"/>
                  <a:pt x="1531088" y="170121"/>
                </a:cubicBezTo>
                <a:cubicBezTo>
                  <a:pt x="1400783" y="185451"/>
                  <a:pt x="1510220" y="176438"/>
                  <a:pt x="1350335" y="202019"/>
                </a:cubicBezTo>
                <a:cubicBezTo>
                  <a:pt x="1180219" y="229237"/>
                  <a:pt x="1173729" y="224185"/>
                  <a:pt x="988828" y="233917"/>
                </a:cubicBezTo>
                <a:cubicBezTo>
                  <a:pt x="926541" y="242815"/>
                  <a:pt x="880859" y="247399"/>
                  <a:pt x="818707" y="265814"/>
                </a:cubicBezTo>
                <a:cubicBezTo>
                  <a:pt x="754231" y="284918"/>
                  <a:pt x="687468" y="299537"/>
                  <a:pt x="627321" y="329610"/>
                </a:cubicBezTo>
                <a:cubicBezTo>
                  <a:pt x="551712" y="367415"/>
                  <a:pt x="478849" y="392638"/>
                  <a:pt x="435935" y="478466"/>
                </a:cubicBezTo>
                <a:cubicBezTo>
                  <a:pt x="381334" y="587668"/>
                  <a:pt x="405892" y="534389"/>
                  <a:pt x="361507" y="637954"/>
                </a:cubicBezTo>
                <a:cubicBezTo>
                  <a:pt x="347973" y="719155"/>
                  <a:pt x="337828" y="767112"/>
                  <a:pt x="340242" y="861238"/>
                </a:cubicBezTo>
                <a:cubicBezTo>
                  <a:pt x="342430" y="946565"/>
                  <a:pt x="350584" y="1031766"/>
                  <a:pt x="361507" y="1116419"/>
                </a:cubicBezTo>
                <a:cubicBezTo>
                  <a:pt x="364809" y="1142009"/>
                  <a:pt x="376514" y="1165815"/>
                  <a:pt x="382772" y="1190847"/>
                </a:cubicBezTo>
                <a:cubicBezTo>
                  <a:pt x="390697" y="1222547"/>
                  <a:pt x="396112" y="1254840"/>
                  <a:pt x="404037" y="1286540"/>
                </a:cubicBezTo>
                <a:cubicBezTo>
                  <a:pt x="478013" y="1582444"/>
                  <a:pt x="403087" y="1277896"/>
                  <a:pt x="457200" y="1467293"/>
                </a:cubicBezTo>
                <a:cubicBezTo>
                  <a:pt x="465229" y="1495395"/>
                  <a:pt x="471377" y="1524000"/>
                  <a:pt x="478465" y="1552354"/>
                </a:cubicBezTo>
                <a:cubicBezTo>
                  <a:pt x="492038" y="1769512"/>
                  <a:pt x="502304" y="1658163"/>
                  <a:pt x="467833" y="1807535"/>
                </a:cubicBezTo>
                <a:cubicBezTo>
                  <a:pt x="463769" y="1825144"/>
                  <a:pt x="462165" y="1843321"/>
                  <a:pt x="457200" y="1860698"/>
                </a:cubicBezTo>
                <a:cubicBezTo>
                  <a:pt x="447963" y="1893027"/>
                  <a:pt x="425302" y="1956391"/>
                  <a:pt x="425302" y="1956391"/>
                </a:cubicBezTo>
                <a:cubicBezTo>
                  <a:pt x="406279" y="2070536"/>
                  <a:pt x="410622" y="2062872"/>
                  <a:pt x="350874" y="2222205"/>
                </a:cubicBezTo>
                <a:cubicBezTo>
                  <a:pt x="340242" y="2250559"/>
                  <a:pt x="328009" y="2278363"/>
                  <a:pt x="318977" y="2307266"/>
                </a:cubicBezTo>
                <a:cubicBezTo>
                  <a:pt x="310260" y="2335162"/>
                  <a:pt x="306954" y="2364600"/>
                  <a:pt x="297712" y="2392326"/>
                </a:cubicBezTo>
                <a:cubicBezTo>
                  <a:pt x="289176" y="2417933"/>
                  <a:pt x="275839" y="2441693"/>
                  <a:pt x="265814" y="2466754"/>
                </a:cubicBezTo>
                <a:cubicBezTo>
                  <a:pt x="254568" y="2494870"/>
                  <a:pt x="245382" y="2523787"/>
                  <a:pt x="233916" y="2551814"/>
                </a:cubicBezTo>
                <a:cubicBezTo>
                  <a:pt x="213476" y="2601778"/>
                  <a:pt x="183214" y="2648298"/>
                  <a:pt x="170121" y="2700670"/>
                </a:cubicBezTo>
                <a:cubicBezTo>
                  <a:pt x="163033" y="2729024"/>
                  <a:pt x="157103" y="2757692"/>
                  <a:pt x="148856" y="2785731"/>
                </a:cubicBezTo>
                <a:cubicBezTo>
                  <a:pt x="139369" y="2817988"/>
                  <a:pt x="125515" y="2848908"/>
                  <a:pt x="116958" y="2881424"/>
                </a:cubicBezTo>
                <a:cubicBezTo>
                  <a:pt x="99328" y="2948418"/>
                  <a:pt x="96945" y="2988167"/>
                  <a:pt x="85061" y="3051545"/>
                </a:cubicBezTo>
                <a:cubicBezTo>
                  <a:pt x="64817" y="3159514"/>
                  <a:pt x="67100" y="3144650"/>
                  <a:pt x="42530" y="3242931"/>
                </a:cubicBezTo>
                <a:cubicBezTo>
                  <a:pt x="17633" y="3541714"/>
                  <a:pt x="45154" y="3232618"/>
                  <a:pt x="21265" y="3455582"/>
                </a:cubicBezTo>
                <a:cubicBezTo>
                  <a:pt x="13676" y="3526414"/>
                  <a:pt x="0" y="3668233"/>
                  <a:pt x="0" y="3668233"/>
                </a:cubicBezTo>
                <a:cubicBezTo>
                  <a:pt x="17562" y="4265314"/>
                  <a:pt x="-2508" y="3803217"/>
                  <a:pt x="31898" y="4284921"/>
                </a:cubicBezTo>
                <a:cubicBezTo>
                  <a:pt x="44315" y="4458775"/>
                  <a:pt x="35495" y="4384532"/>
                  <a:pt x="53163" y="4508205"/>
                </a:cubicBezTo>
                <a:cubicBezTo>
                  <a:pt x="56707" y="4557824"/>
                  <a:pt x="62702" y="4607328"/>
                  <a:pt x="63795" y="4657061"/>
                </a:cubicBezTo>
                <a:cubicBezTo>
                  <a:pt x="84041" y="5578274"/>
                  <a:pt x="39607" y="5197210"/>
                  <a:pt x="85061" y="5560828"/>
                </a:cubicBezTo>
                <a:cubicBezTo>
                  <a:pt x="90371" y="5645798"/>
                  <a:pt x="110591" y="5979828"/>
                  <a:pt x="116958" y="6018028"/>
                </a:cubicBezTo>
                <a:cubicBezTo>
                  <a:pt x="124404" y="6062705"/>
                  <a:pt x="135886" y="6138608"/>
                  <a:pt x="148856" y="6177517"/>
                </a:cubicBezTo>
                <a:cubicBezTo>
                  <a:pt x="156374" y="6200072"/>
                  <a:pt x="169369" y="6220440"/>
                  <a:pt x="180754" y="6241312"/>
                </a:cubicBezTo>
                <a:cubicBezTo>
                  <a:pt x="182563" y="6244628"/>
                  <a:pt x="223858" y="6314878"/>
                  <a:pt x="233916" y="6326373"/>
                </a:cubicBezTo>
                <a:cubicBezTo>
                  <a:pt x="250419" y="6345233"/>
                  <a:pt x="268218" y="6363032"/>
                  <a:pt x="287079" y="6379535"/>
                </a:cubicBezTo>
                <a:cubicBezTo>
                  <a:pt x="296696" y="6387950"/>
                  <a:pt x="308578" y="6393372"/>
                  <a:pt x="318977" y="6400800"/>
                </a:cubicBezTo>
                <a:cubicBezTo>
                  <a:pt x="333397" y="6411100"/>
                  <a:pt x="348171" y="6421029"/>
                  <a:pt x="361507" y="6432698"/>
                </a:cubicBezTo>
                <a:cubicBezTo>
                  <a:pt x="376595" y="6445900"/>
                  <a:pt x="387998" y="6463199"/>
                  <a:pt x="404037" y="6475228"/>
                </a:cubicBezTo>
                <a:cubicBezTo>
                  <a:pt x="416717" y="6484738"/>
                  <a:pt x="433887" y="6486983"/>
                  <a:pt x="446567" y="6496493"/>
                </a:cubicBezTo>
                <a:cubicBezTo>
                  <a:pt x="462606" y="6508523"/>
                  <a:pt x="473875" y="6525976"/>
                  <a:pt x="489098" y="6539024"/>
                </a:cubicBezTo>
                <a:cubicBezTo>
                  <a:pt x="518157" y="6563932"/>
                  <a:pt x="620603" y="6611437"/>
                  <a:pt x="627321" y="6613452"/>
                </a:cubicBezTo>
                <a:cubicBezTo>
                  <a:pt x="662763" y="6624084"/>
                  <a:pt x="698754" y="6633034"/>
                  <a:pt x="733647" y="6645349"/>
                </a:cubicBezTo>
                <a:cubicBezTo>
                  <a:pt x="866160" y="6692118"/>
                  <a:pt x="750882" y="6667715"/>
                  <a:pt x="871870" y="6687880"/>
                </a:cubicBezTo>
                <a:cubicBezTo>
                  <a:pt x="985400" y="6736535"/>
                  <a:pt x="905924" y="6710604"/>
                  <a:pt x="1031358" y="6730410"/>
                </a:cubicBezTo>
                <a:cubicBezTo>
                  <a:pt x="1070498" y="6736590"/>
                  <a:pt x="1109089" y="6746071"/>
                  <a:pt x="1148316" y="6751675"/>
                </a:cubicBezTo>
                <a:cubicBezTo>
                  <a:pt x="1218016" y="6761632"/>
                  <a:pt x="1353195" y="6768877"/>
                  <a:pt x="1414130" y="6772940"/>
                </a:cubicBezTo>
                <a:cubicBezTo>
                  <a:pt x="1570074" y="6765852"/>
                  <a:pt x="1726228" y="6762415"/>
                  <a:pt x="1881963" y="6751675"/>
                </a:cubicBezTo>
                <a:cubicBezTo>
                  <a:pt x="1931967" y="6748226"/>
                  <a:pt x="1981156" y="6737182"/>
                  <a:pt x="2030819" y="6730410"/>
                </a:cubicBezTo>
                <a:cubicBezTo>
                  <a:pt x="2059131" y="6726549"/>
                  <a:pt x="2087526" y="6723321"/>
                  <a:pt x="2115879" y="6719777"/>
                </a:cubicBezTo>
                <a:cubicBezTo>
                  <a:pt x="2298686" y="6669922"/>
                  <a:pt x="2181716" y="6695599"/>
                  <a:pt x="2413591" y="6666614"/>
                </a:cubicBezTo>
                <a:cubicBezTo>
                  <a:pt x="2787850" y="6619831"/>
                  <a:pt x="2548287" y="6638261"/>
                  <a:pt x="2987749" y="6624084"/>
                </a:cubicBezTo>
                <a:cubicBezTo>
                  <a:pt x="3202119" y="6600266"/>
                  <a:pt x="2989537" y="6621467"/>
                  <a:pt x="3381154" y="6602819"/>
                </a:cubicBezTo>
                <a:cubicBezTo>
                  <a:pt x="3430842" y="6600453"/>
                  <a:pt x="3480423" y="6596154"/>
                  <a:pt x="3530009" y="6592187"/>
                </a:cubicBezTo>
                <a:cubicBezTo>
                  <a:pt x="3569031" y="6589065"/>
                  <a:pt x="3607843" y="6582903"/>
                  <a:pt x="3646967" y="6581554"/>
                </a:cubicBezTo>
                <a:cubicBezTo>
                  <a:pt x="3813483" y="6575812"/>
                  <a:pt x="3980121" y="6574465"/>
                  <a:pt x="4146698" y="6570921"/>
                </a:cubicBezTo>
                <a:cubicBezTo>
                  <a:pt x="4272973" y="6572991"/>
                  <a:pt x="4795997" y="6575288"/>
                  <a:pt x="5029200" y="6592187"/>
                </a:cubicBezTo>
                <a:cubicBezTo>
                  <a:pt x="5195942" y="6604270"/>
                  <a:pt x="5363284" y="6612129"/>
                  <a:pt x="5528930" y="6634717"/>
                </a:cubicBezTo>
                <a:lnTo>
                  <a:pt x="5762847" y="6666614"/>
                </a:lnTo>
                <a:cubicBezTo>
                  <a:pt x="5830060" y="6674811"/>
                  <a:pt x="5897874" y="6678028"/>
                  <a:pt x="5964865" y="6687880"/>
                </a:cubicBezTo>
                <a:cubicBezTo>
                  <a:pt x="6018504" y="6695768"/>
                  <a:pt x="6070843" y="6711066"/>
                  <a:pt x="6124354" y="6719777"/>
                </a:cubicBezTo>
                <a:cubicBezTo>
                  <a:pt x="6255897" y="6741191"/>
                  <a:pt x="6537258" y="6778297"/>
                  <a:pt x="6677247" y="6794205"/>
                </a:cubicBezTo>
                <a:cubicBezTo>
                  <a:pt x="6748029" y="6802248"/>
                  <a:pt x="6819138" y="6807242"/>
                  <a:pt x="6889898" y="6815470"/>
                </a:cubicBezTo>
                <a:cubicBezTo>
                  <a:pt x="6971555" y="6824965"/>
                  <a:pt x="7052629" y="6839386"/>
                  <a:pt x="7134447" y="6847368"/>
                </a:cubicBezTo>
                <a:cubicBezTo>
                  <a:pt x="7198039" y="6853572"/>
                  <a:pt x="7262081" y="6853750"/>
                  <a:pt x="7325833" y="6858000"/>
                </a:cubicBezTo>
                <a:cubicBezTo>
                  <a:pt x="7368416" y="6860839"/>
                  <a:pt x="7410854" y="6865592"/>
                  <a:pt x="7453423" y="6868633"/>
                </a:cubicBezTo>
                <a:cubicBezTo>
                  <a:pt x="7510096" y="6872681"/>
                  <a:pt x="7566951" y="6874213"/>
                  <a:pt x="7623544" y="6879266"/>
                </a:cubicBezTo>
                <a:cubicBezTo>
                  <a:pt x="7765454" y="6891937"/>
                  <a:pt x="7906734" y="6911645"/>
                  <a:pt x="8048847" y="6921796"/>
                </a:cubicBezTo>
                <a:lnTo>
                  <a:pt x="8346558" y="6943061"/>
                </a:lnTo>
                <a:cubicBezTo>
                  <a:pt x="8417392" y="6947488"/>
                  <a:pt x="8488394" y="6948972"/>
                  <a:pt x="8559209" y="6953693"/>
                </a:cubicBezTo>
                <a:cubicBezTo>
                  <a:pt x="8647900" y="6959606"/>
                  <a:pt x="8736332" y="6969046"/>
                  <a:pt x="8825023" y="6974959"/>
                </a:cubicBezTo>
                <a:cubicBezTo>
                  <a:pt x="8895838" y="6979680"/>
                  <a:pt x="8966817" y="6981542"/>
                  <a:pt x="9037674" y="6985591"/>
                </a:cubicBezTo>
                <a:cubicBezTo>
                  <a:pt x="9090868" y="6988631"/>
                  <a:pt x="9143932" y="6993910"/>
                  <a:pt x="9197163" y="6996224"/>
                </a:cubicBezTo>
                <a:cubicBezTo>
                  <a:pt x="9388499" y="7004543"/>
                  <a:pt x="9580290" y="7003845"/>
                  <a:pt x="9771321" y="7017489"/>
                </a:cubicBezTo>
                <a:cubicBezTo>
                  <a:pt x="9977383" y="7032207"/>
                  <a:pt x="9944211" y="7031547"/>
                  <a:pt x="10207256" y="7038754"/>
                </a:cubicBezTo>
                <a:lnTo>
                  <a:pt x="10696354" y="7049387"/>
                </a:lnTo>
                <a:cubicBezTo>
                  <a:pt x="10994627" y="7042608"/>
                  <a:pt x="11098806" y="7054944"/>
                  <a:pt x="11344940" y="7017489"/>
                </a:cubicBezTo>
                <a:cubicBezTo>
                  <a:pt x="11558390" y="6985007"/>
                  <a:pt x="11619415" y="6981654"/>
                  <a:pt x="11791507" y="6921796"/>
                </a:cubicBezTo>
                <a:cubicBezTo>
                  <a:pt x="11827560" y="6909256"/>
                  <a:pt x="11863369" y="6895678"/>
                  <a:pt x="11897833" y="6879266"/>
                </a:cubicBezTo>
                <a:cubicBezTo>
                  <a:pt x="11973313" y="6843323"/>
                  <a:pt x="12101314" y="6764969"/>
                  <a:pt x="12163647" y="6719777"/>
                </a:cubicBezTo>
                <a:cubicBezTo>
                  <a:pt x="12257771" y="6651537"/>
                  <a:pt x="12348042" y="6578137"/>
                  <a:pt x="12440093" y="6507126"/>
                </a:cubicBezTo>
                <a:cubicBezTo>
                  <a:pt x="12498888" y="6461770"/>
                  <a:pt x="12616934" y="6375423"/>
                  <a:pt x="12652744" y="6315740"/>
                </a:cubicBezTo>
                <a:lnTo>
                  <a:pt x="12748437" y="6156252"/>
                </a:lnTo>
                <a:cubicBezTo>
                  <a:pt x="12769702" y="6120810"/>
                  <a:pt x="12792441" y="6086211"/>
                  <a:pt x="12812233" y="6049926"/>
                </a:cubicBezTo>
                <a:cubicBezTo>
                  <a:pt x="12833498" y="6010940"/>
                  <a:pt x="12858321" y="5973694"/>
                  <a:pt x="12876028" y="5932968"/>
                </a:cubicBezTo>
                <a:cubicBezTo>
                  <a:pt x="12954073" y="5753463"/>
                  <a:pt x="12879017" y="5856972"/>
                  <a:pt x="12971721" y="5688419"/>
                </a:cubicBezTo>
                <a:cubicBezTo>
                  <a:pt x="13024465" y="5592520"/>
                  <a:pt x="13143000" y="5463514"/>
                  <a:pt x="13195005" y="5390707"/>
                </a:cubicBezTo>
                <a:cubicBezTo>
                  <a:pt x="13246209" y="5319021"/>
                  <a:pt x="13361735" y="5175053"/>
                  <a:pt x="13407656" y="5071731"/>
                </a:cubicBezTo>
                <a:cubicBezTo>
                  <a:pt x="13421312" y="5041006"/>
                  <a:pt x="13428921" y="5007936"/>
                  <a:pt x="13439554" y="4976038"/>
                </a:cubicBezTo>
                <a:cubicBezTo>
                  <a:pt x="13441881" y="4959748"/>
                  <a:pt x="13461154" y="4827937"/>
                  <a:pt x="13460819" y="4816549"/>
                </a:cubicBezTo>
                <a:cubicBezTo>
                  <a:pt x="13458102" y="4724168"/>
                  <a:pt x="13451018" y="4631810"/>
                  <a:pt x="13439554" y="4540103"/>
                </a:cubicBezTo>
                <a:cubicBezTo>
                  <a:pt x="13433504" y="4491703"/>
                  <a:pt x="13364138" y="4368006"/>
                  <a:pt x="13354493" y="4348717"/>
                </a:cubicBezTo>
                <a:cubicBezTo>
                  <a:pt x="13347405" y="4334540"/>
                  <a:pt x="13343129" y="4318564"/>
                  <a:pt x="13333228" y="4306187"/>
                </a:cubicBezTo>
                <a:cubicBezTo>
                  <a:pt x="13283927" y="4244561"/>
                  <a:pt x="13288286" y="4243240"/>
                  <a:pt x="13216270" y="4189228"/>
                </a:cubicBezTo>
                <a:cubicBezTo>
                  <a:pt x="13199737" y="4176828"/>
                  <a:pt x="13180542" y="4168426"/>
                  <a:pt x="13163107" y="4157331"/>
                </a:cubicBezTo>
                <a:cubicBezTo>
                  <a:pt x="13141545" y="4143610"/>
                  <a:pt x="13121388" y="4127678"/>
                  <a:pt x="13099312" y="4114800"/>
                </a:cubicBezTo>
                <a:cubicBezTo>
                  <a:pt x="13007280" y="4061115"/>
                  <a:pt x="12836098" y="4010449"/>
                  <a:pt x="12769702" y="3987210"/>
                </a:cubicBezTo>
                <a:cubicBezTo>
                  <a:pt x="12636137" y="3940462"/>
                  <a:pt x="12587660" y="3925104"/>
                  <a:pt x="12450726" y="3891517"/>
                </a:cubicBezTo>
                <a:lnTo>
                  <a:pt x="12046688" y="3795824"/>
                </a:lnTo>
                <a:cubicBezTo>
                  <a:pt x="11908192" y="3763237"/>
                  <a:pt x="11753427" y="3730761"/>
                  <a:pt x="11621386" y="3689498"/>
                </a:cubicBezTo>
                <a:cubicBezTo>
                  <a:pt x="11330304" y="3598535"/>
                  <a:pt x="11569506" y="3668554"/>
                  <a:pt x="11313042" y="3604438"/>
                </a:cubicBezTo>
                <a:cubicBezTo>
                  <a:pt x="11273839" y="3594637"/>
                  <a:pt x="11235767" y="3580171"/>
                  <a:pt x="11196084" y="3572540"/>
                </a:cubicBezTo>
                <a:cubicBezTo>
                  <a:pt x="11051322" y="3544701"/>
                  <a:pt x="10906270" y="3517595"/>
                  <a:pt x="10760149" y="3498112"/>
                </a:cubicBezTo>
                <a:cubicBezTo>
                  <a:pt x="10706986" y="3491024"/>
                  <a:pt x="10653459" y="3486275"/>
                  <a:pt x="10600661" y="3476847"/>
                </a:cubicBezTo>
                <a:cubicBezTo>
                  <a:pt x="10554112" y="3468535"/>
                  <a:pt x="10508903" y="3453716"/>
                  <a:pt x="10462437" y="3444949"/>
                </a:cubicBezTo>
                <a:cubicBezTo>
                  <a:pt x="10321011" y="3418265"/>
                  <a:pt x="10178964" y="3394974"/>
                  <a:pt x="10037135" y="3370521"/>
                </a:cubicBezTo>
                <a:cubicBezTo>
                  <a:pt x="9973400" y="3359532"/>
                  <a:pt x="9909774" y="3347770"/>
                  <a:pt x="9845749" y="3338624"/>
                </a:cubicBezTo>
                <a:cubicBezTo>
                  <a:pt x="9796130" y="3331536"/>
                  <a:pt x="9746207" y="3326325"/>
                  <a:pt x="9696893" y="3317359"/>
                </a:cubicBezTo>
                <a:cubicBezTo>
                  <a:pt x="9551229" y="3290875"/>
                  <a:pt x="9406395" y="3260000"/>
                  <a:pt x="9260958" y="3232298"/>
                </a:cubicBezTo>
                <a:cubicBezTo>
                  <a:pt x="9183107" y="3217469"/>
                  <a:pt x="9105737" y="3199136"/>
                  <a:pt x="9027042" y="3189768"/>
                </a:cubicBezTo>
                <a:cubicBezTo>
                  <a:pt x="8878186" y="3172047"/>
                  <a:pt x="8730000" y="3147285"/>
                  <a:pt x="8580474" y="3136605"/>
                </a:cubicBezTo>
                <a:cubicBezTo>
                  <a:pt x="8275126" y="3114795"/>
                  <a:pt x="8603468" y="3139662"/>
                  <a:pt x="8218967" y="3104707"/>
                </a:cubicBezTo>
                <a:cubicBezTo>
                  <a:pt x="8172946" y="3100523"/>
                  <a:pt x="8126795" y="3097913"/>
                  <a:pt x="8080744" y="3094075"/>
                </a:cubicBezTo>
                <a:lnTo>
                  <a:pt x="7963786" y="3083442"/>
                </a:lnTo>
                <a:cubicBezTo>
                  <a:pt x="7880465" y="3053143"/>
                  <a:pt x="7741462" y="3007657"/>
                  <a:pt x="7676707" y="2955852"/>
                </a:cubicBezTo>
                <a:lnTo>
                  <a:pt x="7623544" y="2913321"/>
                </a:lnTo>
                <a:cubicBezTo>
                  <a:pt x="7621985" y="2910723"/>
                  <a:pt x="7571365" y="2829436"/>
                  <a:pt x="7570381" y="2817628"/>
                </a:cubicBezTo>
                <a:cubicBezTo>
                  <a:pt x="7569577" y="2807975"/>
                  <a:pt x="7580860" y="2714310"/>
                  <a:pt x="7591647" y="2690038"/>
                </a:cubicBezTo>
                <a:cubicBezTo>
                  <a:pt x="7617051" y="2632878"/>
                  <a:pt x="7624530" y="2643805"/>
                  <a:pt x="7655442" y="2594345"/>
                </a:cubicBezTo>
                <a:cubicBezTo>
                  <a:pt x="7663843" y="2580904"/>
                  <a:pt x="7668306" y="2565255"/>
                  <a:pt x="7676707" y="2551814"/>
                </a:cubicBezTo>
                <a:cubicBezTo>
                  <a:pt x="7686099" y="2536787"/>
                  <a:pt x="7698305" y="2523704"/>
                  <a:pt x="7708605" y="2509284"/>
                </a:cubicBezTo>
                <a:cubicBezTo>
                  <a:pt x="7716032" y="2498886"/>
                  <a:pt x="7721887" y="2487365"/>
                  <a:pt x="7729870" y="2477387"/>
                </a:cubicBezTo>
                <a:cubicBezTo>
                  <a:pt x="7750672" y="2451384"/>
                  <a:pt x="7766084" y="2448358"/>
                  <a:pt x="7793665" y="2424224"/>
                </a:cubicBezTo>
                <a:cubicBezTo>
                  <a:pt x="7851658" y="2373479"/>
                  <a:pt x="7818126" y="2385411"/>
                  <a:pt x="7889358" y="2349796"/>
                </a:cubicBezTo>
                <a:cubicBezTo>
                  <a:pt x="7961699" y="2313626"/>
                  <a:pt x="7875301" y="2373201"/>
                  <a:pt x="7963786" y="2317898"/>
                </a:cubicBezTo>
                <a:cubicBezTo>
                  <a:pt x="8074201" y="2248888"/>
                  <a:pt x="7941088" y="2318613"/>
                  <a:pt x="8048847" y="2264735"/>
                </a:cubicBezTo>
                <a:cubicBezTo>
                  <a:pt x="8063024" y="2247014"/>
                  <a:pt x="8076196" y="2228441"/>
                  <a:pt x="8091377" y="2211573"/>
                </a:cubicBezTo>
                <a:cubicBezTo>
                  <a:pt x="8102467" y="2199250"/>
                  <a:pt x="8156699" y="2153830"/>
                  <a:pt x="8165805" y="2126512"/>
                </a:cubicBezTo>
                <a:cubicBezTo>
                  <a:pt x="8169167" y="2116425"/>
                  <a:pt x="8183526" y="2091070"/>
                  <a:pt x="8187070" y="2083982"/>
                </a:cubicBezTo>
                <a:close/>
              </a:path>
            </a:pathLst>
          </a:cu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/>
        </p:nvSpPr>
        <p:spPr>
          <a:xfrm>
            <a:off x="838200" y="365127"/>
            <a:ext cx="1254349" cy="780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Tabla</a:t>
            </a:r>
            <a:endParaRPr b="0" i="0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3255264" y="3061262"/>
            <a:ext cx="6748272" cy="35148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3255264" y="3913938"/>
            <a:ext cx="6748272" cy="731214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248912" y="3061263"/>
            <a:ext cx="1548384" cy="3468186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427226" y="3675556"/>
            <a:ext cx="1784604" cy="157307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Fila: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orresponde a un registro o instancia</a:t>
            </a:r>
            <a:endParaRPr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249674" y="949273"/>
            <a:ext cx="5259324" cy="203730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Columna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uarda un tipo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specífico de datos</a:t>
            </a:r>
            <a:endParaRPr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CHAR(N)</a:t>
            </a:r>
            <a:b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VARCHAR(N)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38200" y="6825044"/>
            <a:ext cx="11168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Empleados (Emp No: STRING, Name: STRING, Age: INTEGER, Department: STRING, Salary: REAL )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720000" y="304800"/>
            <a:ext cx="8408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Llaves primarias y secundarias (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primary keys </a:t>
            </a:r>
            <a:r>
              <a:rPr lang="en-US" sz="2400">
                <a:solidFill>
                  <a:schemeClr val="accent6"/>
                </a:solidFill>
              </a:rPr>
              <a:t>&amp;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foreign keys</a:t>
            </a: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11" name="Google Shape;211;p6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150813" lvl="0" marL="3794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50813" lvl="0" marL="379413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704964" y="2493247"/>
            <a:ext cx="7497787" cy="3905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6"/>
          <p:cNvGraphicFramePr/>
          <p:nvPr/>
        </p:nvGraphicFramePr>
        <p:xfrm>
          <a:off x="9186539" y="2797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{EA9A8E42-8876-4139-B574-DBFFCE0D0BAC}</a:tableStyleId>
              </a:tblPr>
              <a:tblGrid>
                <a:gridCol w="1013700"/>
                <a:gridCol w="2235125"/>
              </a:tblGrid>
              <a:tr h="50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Id</a:t>
                      </a:r>
                      <a:endParaRPr/>
                    </a:p>
                  </a:txBody>
                  <a:tcPr marT="50800" marB="508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Department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50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</a:t>
                      </a:r>
                      <a:endParaRPr/>
                    </a:p>
                  </a:txBody>
                  <a:tcPr marT="50800" marB="508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Store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50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2</a:t>
                      </a:r>
                      <a:endParaRPr/>
                    </a:p>
                  </a:txBody>
                  <a:tcPr marT="50800" marB="508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Marketing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50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3</a:t>
                      </a:r>
                      <a:endParaRPr/>
                    </a:p>
                  </a:txBody>
                  <a:tcPr marT="50800" marB="50800" marR="101600" marL="101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Security</a:t>
                      </a:r>
                      <a:endParaRPr/>
                    </a:p>
                  </a:txBody>
                  <a:tcPr marT="50800" marB="50800" marR="101600" marL="101600"/>
                </a:tc>
              </a:tr>
            </a:tbl>
          </a:graphicData>
        </a:graphic>
      </p:graphicFrame>
      <p:graphicFrame>
        <p:nvGraphicFramePr>
          <p:cNvPr id="214" name="Google Shape;214;p6"/>
          <p:cNvGraphicFramePr/>
          <p:nvPr/>
        </p:nvGraphicFramePr>
        <p:xfrm>
          <a:off x="4537956" y="26347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{EA9A8E42-8876-4139-B574-DBFFCE0D0BAC}</a:tableStyleId>
              </a:tblPr>
              <a:tblGrid>
                <a:gridCol w="1964200"/>
              </a:tblGrid>
              <a:tr h="85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Department_id</a:t>
                      </a:r>
                      <a:endParaRPr sz="2000"/>
                    </a:p>
                  </a:txBody>
                  <a:tcPr marT="50800" marB="50800" marR="101600" marL="101600"/>
                </a:tc>
              </a:tr>
              <a:tr h="6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6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6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/>
                    </a:p>
                  </a:txBody>
                  <a:tcPr marT="50800" marB="50800" marR="101600" marL="101600"/>
                </a:tc>
              </a:tr>
              <a:tr h="6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/>
                    </a:p>
                  </a:txBody>
                  <a:tcPr marT="50800" marB="50800" marR="101600" marL="101600"/>
                </a:tc>
              </a:tr>
            </a:tbl>
          </a:graphicData>
        </a:graphic>
      </p:graphicFrame>
      <p:sp>
        <p:nvSpPr>
          <p:cNvPr id="215" name="Google Shape;215;p6"/>
          <p:cNvSpPr/>
          <p:nvPr/>
        </p:nvSpPr>
        <p:spPr>
          <a:xfrm>
            <a:off x="704964" y="2502738"/>
            <a:ext cx="1346495" cy="3853389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1012429" y="6696121"/>
            <a:ext cx="4908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10673423" y="5103604"/>
            <a:ext cx="13905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hay FK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359685" y="2498909"/>
            <a:ext cx="2413384" cy="3853389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5152778" y="6751661"/>
            <a:ext cx="4940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/>
          </a:p>
        </p:txBody>
      </p:sp>
      <p:cxnSp>
        <p:nvCxnSpPr>
          <p:cNvPr id="220" name="Google Shape;220;p6"/>
          <p:cNvCxnSpPr/>
          <p:nvPr/>
        </p:nvCxnSpPr>
        <p:spPr>
          <a:xfrm rot="10800000">
            <a:off x="5566377" y="1878620"/>
            <a:ext cx="0" cy="614627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6"/>
          <p:cNvCxnSpPr/>
          <p:nvPr/>
        </p:nvCxnSpPr>
        <p:spPr>
          <a:xfrm>
            <a:off x="5566378" y="1878620"/>
            <a:ext cx="5244570" cy="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6"/>
          <p:cNvCxnSpPr/>
          <p:nvPr/>
        </p:nvCxnSpPr>
        <p:spPr>
          <a:xfrm>
            <a:off x="10810947" y="1878620"/>
            <a:ext cx="0" cy="91920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" name="Google Shape;223;p6"/>
          <p:cNvSpPr/>
          <p:nvPr/>
        </p:nvSpPr>
        <p:spPr>
          <a:xfrm>
            <a:off x="9003206" y="2714438"/>
            <a:ext cx="1346495" cy="2305862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9418209" y="5103605"/>
            <a:ext cx="4908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229" name="Google Shape;229;p7"/>
          <p:cNvPicPr preferRelativeResize="0"/>
          <p:nvPr/>
        </p:nvPicPr>
        <p:blipFill rotWithShape="1">
          <a:blip r:embed="rId3">
            <a:alphaModFix/>
          </a:blip>
          <a:srcRect b="25295" l="0" r="0" t="0"/>
          <a:stretch/>
        </p:blipFill>
        <p:spPr>
          <a:xfrm>
            <a:off x="86090" y="218175"/>
            <a:ext cx="13373957" cy="617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>
            <p:ph type="title"/>
          </p:nvPr>
        </p:nvSpPr>
        <p:spPr>
          <a:xfrm>
            <a:off x="720000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Structured Query Language (SQL)</a:t>
            </a:r>
            <a:endParaRPr/>
          </a:p>
        </p:txBody>
      </p:sp>
      <p:sp>
        <p:nvSpPr>
          <p:cNvPr id="235" name="Google Shape;235;p8"/>
          <p:cNvSpPr txBox="1"/>
          <p:nvPr>
            <p:ph idx="1" type="body"/>
          </p:nvPr>
        </p:nvSpPr>
        <p:spPr>
          <a:xfrm>
            <a:off x="720000" y="1778000"/>
            <a:ext cx="5549013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 fontScale="92500" lnSpcReduction="20000"/>
          </a:bodyPr>
          <a:lstStyle/>
          <a:p>
            <a:pPr indent="-379413" lvl="0" marL="379413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Char char="•"/>
            </a:pPr>
            <a:r>
              <a:rPr lang="en-US" sz="2000">
                <a:solidFill>
                  <a:schemeClr val="accent6"/>
                </a:solidFill>
              </a:rPr>
              <a:t>Lenguaje</a:t>
            </a:r>
            <a:r>
              <a:rPr lang="en-U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de definición de datos (DDL)</a:t>
            </a:r>
            <a:endParaRPr/>
          </a:p>
          <a:p>
            <a:pPr indent="-342931" lvl="1" marL="850894" rtl="0" algn="l">
              <a:spcBef>
                <a:spcPts val="351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–"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Creación</a:t>
            </a:r>
            <a:endParaRPr/>
          </a:p>
          <a:p>
            <a:pPr indent="-342931" lvl="1" marL="850894" rtl="0" algn="l">
              <a:spcBef>
                <a:spcPts val="351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–"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Inserción</a:t>
            </a:r>
            <a:endParaRPr/>
          </a:p>
          <a:p>
            <a:pPr indent="-342931" lvl="1" marL="850894" rtl="0" algn="l">
              <a:spcBef>
                <a:spcPts val="351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–"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Eliminación</a:t>
            </a:r>
            <a:endParaRPr/>
          </a:p>
          <a:p>
            <a:pPr indent="-342931" lvl="1" marL="850894" rtl="0" algn="l">
              <a:spcBef>
                <a:spcPts val="351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–"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Modificación de definiciones de tablas. </a:t>
            </a:r>
            <a:endParaRPr/>
          </a:p>
          <a:p>
            <a:pPr indent="0" lvl="1" marL="507995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07995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*Las restricciones de integridad se pueden definir en tablas, ya sea cuando se crea la tabla o posteriormente.</a:t>
            </a:r>
            <a:endParaRPr/>
          </a:p>
          <a:p>
            <a:pPr indent="0" lvl="1" marL="507995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413" lvl="0" marL="379413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Lenguaje de manipulación de datos (DML)</a:t>
            </a:r>
            <a:endParaRPr/>
          </a:p>
          <a:p>
            <a:pPr indent="-315944" lvl="1" marL="823913" rtl="0" algn="l">
              <a:spcBef>
                <a:spcPts val="351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–"/>
            </a:pPr>
            <a:r>
              <a:rPr lang="en-US" sz="1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/>
          </a:p>
          <a:p>
            <a:pPr indent="-261938" lvl="0" marL="379413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413" lvl="0" marL="379413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 este curso utilizaremos SQLite, una versión reducida de SQL, que tiene algunas diferencias menores en sus sintaxis.</a:t>
            </a:r>
            <a:endParaRPr/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b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é es SQL? El primer lenguaje de analítica de datos – CambioDigital OnLine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6956" y="2293627"/>
            <a:ext cx="5547704" cy="3032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Creación</a:t>
            </a:r>
            <a:endParaRPr/>
          </a:p>
        </p:txBody>
      </p:sp>
      <p:sp>
        <p:nvSpPr>
          <p:cNvPr id="242" name="Google Shape;242;p9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EXISTS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] table_name (column_1 data_type, column_2 data_type, …)</a:t>
            </a:r>
            <a:endParaRPr/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3788270" y="2585864"/>
            <a:ext cx="5744450" cy="299199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/>
          <p:nvPr/>
        </p:nvSpPr>
        <p:spPr>
          <a:xfrm>
            <a:off x="931298" y="6133012"/>
            <a:ext cx="11746427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(Emp_No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CHAR(3)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Name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VARCHAR(20)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Age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Department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VARCHAR(10)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Salary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Creación (en SQLite)</a:t>
            </a:r>
            <a:endParaRPr/>
          </a:p>
        </p:txBody>
      </p:sp>
      <p:sp>
        <p:nvSpPr>
          <p:cNvPr id="250" name="Google Shape;250;p10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EXISTS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] table_name (column_1 data_type, column_2 data_type, …)</a:t>
            </a:r>
            <a:endParaRPr/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3788270" y="2585864"/>
            <a:ext cx="5744450" cy="29919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931298" y="6133012"/>
            <a:ext cx="11458395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(Emp_No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Name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Age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Department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Salary </a:t>
            </a:r>
            <a:r>
              <a:rPr b="1"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Inserción</a:t>
            </a:r>
            <a:endParaRPr/>
          </a:p>
        </p:txBody>
      </p:sp>
      <p:sp>
        <p:nvSpPr>
          <p:cNvPr id="258" name="Google Shape;258;p11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INTO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table_name (column1,column2 ,..)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 value1, value2 ,...)</a:t>
            </a:r>
            <a:endParaRPr/>
          </a:p>
        </p:txBody>
      </p:sp>
      <p:pic>
        <p:nvPicPr>
          <p:cNvPr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4210642" y="2753747"/>
            <a:ext cx="4849338" cy="25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3133139" y="4704271"/>
            <a:ext cx="6777199" cy="4761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31297" y="6089801"/>
            <a:ext cx="116835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INSERT INTO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(Emp_No, Name, Age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Department,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Salary)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VALUES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(‘004’, ‘Jons’, 26, ‘Security’, 5100)</a:t>
            </a:r>
            <a:endParaRPr b="1"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Modificación </a:t>
            </a:r>
            <a:endParaRPr/>
          </a:p>
        </p:txBody>
      </p:sp>
      <p:sp>
        <p:nvSpPr>
          <p:cNvPr id="267" name="Google Shape;267;p12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22"/>
              <a:buNone/>
            </a:pPr>
            <a:r>
              <a:rPr b="1"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table_name </a:t>
            </a:r>
            <a:r>
              <a:rPr b="1"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column_1 = new_value_1,  column_2 = new_value_2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rgbClr val="7F7F7F"/>
              </a:buClr>
              <a:buSzPts val="2222"/>
              <a:buNone/>
            </a:pPr>
            <a:r>
              <a:rPr b="1"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search_condition</a:t>
            </a:r>
            <a:endParaRPr sz="2222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2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4444011" y="3156432"/>
            <a:ext cx="4849338" cy="25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931297" y="6350232"/>
            <a:ext cx="116835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E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E.Department = ‘Marketing’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E.Emp_No = ‘004’</a:t>
            </a:r>
            <a:endParaRPr b="1"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ell phone&#10;&#10;Description automatically generated" id="270" name="Google Shape;27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6483" y="5111440"/>
            <a:ext cx="1329015" cy="44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Eliminación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table_name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search_condition;</a:t>
            </a:r>
            <a:endParaRPr/>
          </a:p>
        </p:txBody>
      </p:sp>
      <p:pic>
        <p:nvPicPr>
          <p:cNvPr id="277" name="Google Shape;277;p13"/>
          <p:cNvPicPr preferRelativeResize="0"/>
          <p:nvPr/>
        </p:nvPicPr>
        <p:blipFill rotWithShape="1">
          <a:blip r:embed="rId3">
            <a:alphaModFix/>
          </a:blip>
          <a:srcRect b="0" l="20130" r="0" t="31745"/>
          <a:stretch/>
        </p:blipFill>
        <p:spPr>
          <a:xfrm>
            <a:off x="4381418" y="3017912"/>
            <a:ext cx="4849338" cy="25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/>
          <p:nvPr/>
        </p:nvSpPr>
        <p:spPr>
          <a:xfrm>
            <a:off x="2129715" y="6252202"/>
            <a:ext cx="92867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DELETE FROM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E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E.Emp_No = ‘004’</a:t>
            </a:r>
            <a:endParaRPr b="1"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384470" y="5000632"/>
            <a:ext cx="6777199" cy="47613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Creación de tablas con </a:t>
            </a:r>
            <a:r>
              <a:rPr i="1"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Primary Key </a:t>
            </a: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i="1"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150813" lvl="0" marL="37941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0813" lvl="0" marL="379413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709" y="2081808"/>
            <a:ext cx="6983290" cy="281261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/>
          <p:nvPr/>
        </p:nvSpPr>
        <p:spPr>
          <a:xfrm>
            <a:off x="1084437" y="5354188"/>
            <a:ext cx="1137726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Departments (Id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 </a:t>
            </a:r>
            <a:r>
              <a:rPr b="1" lang="en-US" sz="2000">
                <a:solidFill>
                  <a:srgbClr val="7F7F7F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PRIMARY KEY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Department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VARCHAR(20)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Empleados (Emp_No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 </a:t>
            </a:r>
            <a:r>
              <a:rPr b="1" lang="en-US" sz="2000">
                <a:solidFill>
                  <a:srgbClr val="7F7F7F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PRIMARY KEY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Name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Age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Department_id </a:t>
            </a:r>
            <a:r>
              <a:rPr b="1" lang="en-US" sz="2000">
                <a:solidFill>
                  <a:srgbClr val="7F7F7F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Salary </a:t>
            </a:r>
            <a:r>
              <a:rPr b="1"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000">
                <a:solidFill>
                  <a:srgbClr val="7F7F7F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FOREIGN</a:t>
            </a:r>
            <a:r>
              <a:rPr b="1" lang="en-US" sz="2000">
                <a:solidFill>
                  <a:srgbClr val="7F7F7F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 KEY</a:t>
            </a:r>
            <a:r>
              <a:rPr lang="en-US" sz="2000">
                <a:solidFill>
                  <a:srgbClr val="7F7F7F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 (Department_id) REFERENCES Departments</a:t>
            </a: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Uso en Python: DDL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677307" y="1778000"/>
            <a:ext cx="1264849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600"/>
              <a:buNone/>
            </a:pPr>
            <a:r>
              <a:rPr lang="en-US" sz="160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 sqlite3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connection = sqlite3.</a:t>
            </a:r>
            <a:r>
              <a:rPr lang="en-US" sz="16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‘ejemplo.db’)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cursor = connection.</a:t>
            </a:r>
            <a:r>
              <a:rPr lang="en-US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cursor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sqlStatement = </a:t>
            </a:r>
            <a:r>
              <a:rPr lang="en-US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‘CREATE TABLE Empleados (Emp_No TEXT, Name TEXT, Age INTEGER, Department TEXT, Salary INTEGER)’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cursor.</a:t>
            </a:r>
            <a:r>
              <a:rPr lang="en-US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execute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(sqlStatement)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Sql2 = </a:t>
            </a:r>
            <a:r>
              <a:rPr lang="en-US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‘</a:t>
            </a:r>
            <a:r>
              <a:rPr lang="en-US" sz="1600">
                <a:solidFill>
                  <a:srgbClr val="C00000"/>
                </a:solidFill>
              </a:rPr>
              <a:t>INSERT INTO Empleados (Emp_No, Name, Age, Department, Salary) VALUES (‘004’, ‘Jons’, 26, ‘Security’, 5100)’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cursor.</a:t>
            </a:r>
            <a:r>
              <a:rPr lang="en-US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execute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(Sql2)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connection.</a:t>
            </a:r>
            <a:r>
              <a:rPr lang="en-US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connection.</a:t>
            </a:r>
            <a:r>
              <a:rPr lang="en-US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Manejo de errores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677307" y="1778000"/>
            <a:ext cx="6815842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 desarrollar este capítulo, se encontrarán dos tipos de errores:</a:t>
            </a:r>
            <a:endParaRPr/>
          </a:p>
          <a:p>
            <a:pPr indent="-379413" lvl="0" marL="379413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Errores de Python (de los que ya están familiarizados)</a:t>
            </a:r>
            <a:endParaRPr/>
          </a:p>
          <a:p>
            <a:pPr indent="-379413" lvl="0" marL="379413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</a:pPr>
            <a:r>
              <a:rPr lang="en-US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Errores de la sintaxis de la base de datos (SQL)</a:t>
            </a:r>
            <a:endParaRPr/>
          </a:p>
          <a:p>
            <a:pPr indent="-252413" lvl="0" marL="379413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CONSEJO: Pueden testear sus consultas directamente en la base de datos (p.ej., con DB Browser for SQLite) y luego utilizarla en Python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1b66b413b_0_10"/>
          <p:cNvSpPr txBox="1"/>
          <p:nvPr>
            <p:ph type="title"/>
          </p:nvPr>
        </p:nvSpPr>
        <p:spPr>
          <a:xfrm>
            <a:off x="677307" y="304800"/>
            <a:ext cx="12191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7F7F7F"/>
                </a:solidFill>
              </a:rPr>
              <a:t>¿Qué es </a:t>
            </a:r>
            <a:r>
              <a:rPr lang="en-US" sz="2000">
                <a:solidFill>
                  <a:schemeClr val="accent6"/>
                </a:solidFill>
              </a:rPr>
              <a:t>Web Scraping</a:t>
            </a:r>
            <a:r>
              <a:rPr lang="en-US" sz="2000">
                <a:solidFill>
                  <a:srgbClr val="7F7F7F"/>
                </a:solidFill>
              </a:rPr>
              <a:t>?</a:t>
            </a:r>
            <a:endParaRPr/>
          </a:p>
        </p:txBody>
      </p:sp>
      <p:sp>
        <p:nvSpPr>
          <p:cNvPr id="305" name="Google Shape;305;g311b66b413b_0_10"/>
          <p:cNvSpPr txBox="1"/>
          <p:nvPr>
            <p:ph idx="1" type="body"/>
          </p:nvPr>
        </p:nvSpPr>
        <p:spPr>
          <a:xfrm>
            <a:off x="677299" y="2235200"/>
            <a:ext cx="80907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Definición: Proceso de </a:t>
            </a:r>
            <a:r>
              <a:rPr lang="en-US" sz="2000">
                <a:solidFill>
                  <a:schemeClr val="accent6"/>
                </a:solidFill>
              </a:rPr>
              <a:t>extracción de datos</a:t>
            </a:r>
            <a:r>
              <a:rPr lang="en-US" sz="2000">
                <a:solidFill>
                  <a:srgbClr val="7F7F7F"/>
                </a:solidFill>
              </a:rPr>
              <a:t> de páginas web de manera automatizada.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Objetivo: Recopilar información que no está disponible directamente a través de APIs o bases de datos.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Aplicaciones: Análisis de mercado, recopilación de datos para proyectos de machine learning, monitoreo de precios, entre otros.</a:t>
            </a:r>
            <a:endParaRPr sz="2000">
              <a:solidFill>
                <a:srgbClr val="7F7F7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  <p:pic>
        <p:nvPicPr>
          <p:cNvPr id="306" name="Google Shape;306;g311b66b413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7999" y="2715450"/>
            <a:ext cx="4473329" cy="1863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11b66b413b_0_17"/>
          <p:cNvSpPr txBox="1"/>
          <p:nvPr>
            <p:ph type="title"/>
          </p:nvPr>
        </p:nvSpPr>
        <p:spPr>
          <a:xfrm>
            <a:off x="677307" y="304800"/>
            <a:ext cx="12191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Pasos Simples para Web Scraping</a:t>
            </a:r>
            <a:endParaRPr/>
          </a:p>
        </p:txBody>
      </p:sp>
      <p:sp>
        <p:nvSpPr>
          <p:cNvPr id="312" name="Google Shape;312;g311b66b413b_0_17"/>
          <p:cNvSpPr txBox="1"/>
          <p:nvPr>
            <p:ph idx="1" type="body"/>
          </p:nvPr>
        </p:nvSpPr>
        <p:spPr>
          <a:xfrm>
            <a:off x="545900" y="2296125"/>
            <a:ext cx="12322800" cy="4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Seleccionar el sitio web: Identificar la página que tiene los </a:t>
            </a:r>
            <a:r>
              <a:rPr lang="en-US" sz="2000">
                <a:solidFill>
                  <a:schemeClr val="accent6"/>
                </a:solidFill>
              </a:rPr>
              <a:t>datos necesarios</a:t>
            </a:r>
            <a:r>
              <a:rPr lang="en-US" sz="2000">
                <a:solidFill>
                  <a:srgbClr val="7F7F7F"/>
                </a:solidFill>
              </a:rPr>
              <a:t>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Buscar los datos: </a:t>
            </a:r>
            <a:r>
              <a:rPr lang="en-US" sz="2000">
                <a:solidFill>
                  <a:schemeClr val="accent6"/>
                </a:solidFill>
              </a:rPr>
              <a:t>Inspeccionar el HTML</a:t>
            </a:r>
            <a:r>
              <a:rPr lang="en-US" sz="2000">
                <a:solidFill>
                  <a:srgbClr val="7F7F7F"/>
                </a:solidFill>
              </a:rPr>
              <a:t> para localizar los elementos que contienen los datos deseados.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Extraer los datos: Usar un lenguaje de programación como Python para </a:t>
            </a:r>
            <a:r>
              <a:rPr lang="en-US" sz="2000">
                <a:solidFill>
                  <a:schemeClr val="accent6"/>
                </a:solidFill>
              </a:rPr>
              <a:t>extraer los datos</a:t>
            </a:r>
            <a:r>
              <a:rPr lang="en-US" sz="2000">
                <a:solidFill>
                  <a:srgbClr val="7F7F7F"/>
                </a:solidFill>
              </a:rPr>
              <a:t>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Guardar los datos: </a:t>
            </a:r>
            <a:r>
              <a:rPr lang="en-US" sz="2000">
                <a:solidFill>
                  <a:schemeClr val="accent6"/>
                </a:solidFill>
              </a:rPr>
              <a:t>Almacenar</a:t>
            </a:r>
            <a:r>
              <a:rPr lang="en-US" sz="2000">
                <a:solidFill>
                  <a:srgbClr val="7F7F7F"/>
                </a:solidFill>
              </a:rPr>
              <a:t> la información en un formato útil, como CSV o JSON.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Procesar y consultar los datos: Utilizar herramientas como Pandas para limpiar, transformar y </a:t>
            </a:r>
            <a:r>
              <a:rPr lang="en-US" sz="2000">
                <a:solidFill>
                  <a:schemeClr val="accent6"/>
                </a:solidFill>
              </a:rPr>
              <a:t>analizar</a:t>
            </a:r>
            <a:r>
              <a:rPr lang="en-US" sz="2000">
                <a:solidFill>
                  <a:srgbClr val="7F7F7F"/>
                </a:solidFill>
              </a:rPr>
              <a:t> la información extraída.</a:t>
            </a:r>
            <a:endParaRPr sz="2000">
              <a:solidFill>
                <a:srgbClr val="7F7F7F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1b66b413b_0_25"/>
          <p:cNvSpPr txBox="1"/>
          <p:nvPr>
            <p:ph type="title"/>
          </p:nvPr>
        </p:nvSpPr>
        <p:spPr>
          <a:xfrm>
            <a:off x="677307" y="304800"/>
            <a:ext cx="12191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Web Scraping en Python</a:t>
            </a:r>
            <a:endParaRPr/>
          </a:p>
        </p:txBody>
      </p:sp>
      <p:sp>
        <p:nvSpPr>
          <p:cNvPr id="318" name="Google Shape;318;g311b66b413b_0_25"/>
          <p:cNvSpPr txBox="1"/>
          <p:nvPr>
            <p:ph idx="1" type="body"/>
          </p:nvPr>
        </p:nvSpPr>
        <p:spPr>
          <a:xfrm>
            <a:off x="332050" y="2200450"/>
            <a:ext cx="8121000" cy="21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BeautifulSoup (BS4): Para analizar HTML y extraer información específica.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Pandas: Para organizar, limpiar, analizar y también extraer datos de tablas HTML.</a:t>
            </a:r>
            <a:endParaRPr sz="2000">
              <a:solidFill>
                <a:srgbClr val="7F7F7F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  <p:pic>
        <p:nvPicPr>
          <p:cNvPr id="319" name="Google Shape;319;g311b66b413b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875" y="4321650"/>
            <a:ext cx="6306925" cy="29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11b66b413b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23" y="5050819"/>
            <a:ext cx="6027300" cy="1377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1b66b413b_0_33"/>
          <p:cNvSpPr txBox="1"/>
          <p:nvPr>
            <p:ph type="title"/>
          </p:nvPr>
        </p:nvSpPr>
        <p:spPr>
          <a:xfrm>
            <a:off x="677307" y="304800"/>
            <a:ext cx="12191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7F7F7F"/>
                </a:solidFill>
              </a:rPr>
              <a:t>Consideraciones Importantes</a:t>
            </a:r>
            <a:endParaRPr/>
          </a:p>
        </p:txBody>
      </p:sp>
      <p:sp>
        <p:nvSpPr>
          <p:cNvPr id="326" name="Google Shape;326;g311b66b413b_0_33"/>
          <p:cNvSpPr txBox="1"/>
          <p:nvPr>
            <p:ph idx="1" type="body"/>
          </p:nvPr>
        </p:nvSpPr>
        <p:spPr>
          <a:xfrm>
            <a:off x="545900" y="2296125"/>
            <a:ext cx="12322800" cy="4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Rate Limiting: </a:t>
            </a:r>
            <a:r>
              <a:rPr lang="en-US" sz="2000">
                <a:solidFill>
                  <a:schemeClr val="accent6"/>
                </a:solidFill>
              </a:rPr>
              <a:t>No </a:t>
            </a:r>
            <a:r>
              <a:rPr lang="en-US" sz="2000">
                <a:solidFill>
                  <a:schemeClr val="accent6"/>
                </a:solidFill>
              </a:rPr>
              <a:t>sobrecargar</a:t>
            </a:r>
            <a:r>
              <a:rPr lang="en-US" sz="2000">
                <a:solidFill>
                  <a:srgbClr val="7F7F7F"/>
                </a:solidFill>
              </a:rPr>
              <a:t> los servidores; usar pausas entre requests.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Manejo de Errores: Usar </a:t>
            </a:r>
            <a:r>
              <a:rPr lang="en-US" sz="2000">
                <a:solidFill>
                  <a:schemeClr val="accent6"/>
                </a:solidFill>
              </a:rPr>
              <a:t>manejo de excepciones</a:t>
            </a:r>
            <a:r>
              <a:rPr lang="en-US" sz="2000">
                <a:solidFill>
                  <a:srgbClr val="7F7F7F"/>
                </a:solidFill>
              </a:rPr>
              <a:t> para evitar que el script falle.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Tiempo de Ejecución por Request: Usar time.sleep() para </a:t>
            </a:r>
            <a:r>
              <a:rPr lang="en-US" sz="2000">
                <a:solidFill>
                  <a:schemeClr val="accent6"/>
                </a:solidFill>
              </a:rPr>
              <a:t>retrasar solicitudes</a:t>
            </a:r>
            <a:r>
              <a:rPr lang="en-US" sz="2000">
                <a:solidFill>
                  <a:srgbClr val="7F7F7F"/>
                </a:solidFill>
              </a:rPr>
              <a:t> y evitar bloqueos.</a:t>
            </a:r>
            <a:endParaRPr sz="2000">
              <a:solidFill>
                <a:srgbClr val="7F7F7F"/>
              </a:solidFill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Char char="-"/>
            </a:pPr>
            <a:r>
              <a:rPr lang="en-US" sz="2000">
                <a:solidFill>
                  <a:srgbClr val="7F7F7F"/>
                </a:solidFill>
              </a:rPr>
              <a:t>Rotación de IPs y User Agents: Técnica para cambiar la IP y el agente de usuario en cada solicitud y </a:t>
            </a:r>
            <a:r>
              <a:rPr lang="en-US" sz="2000">
                <a:solidFill>
                  <a:schemeClr val="accent6"/>
                </a:solidFill>
              </a:rPr>
              <a:t>evitar bloqueos</a:t>
            </a:r>
            <a:r>
              <a:rPr lang="en-US" sz="2000">
                <a:solidFill>
                  <a:srgbClr val="7F7F7F"/>
                </a:solidFill>
              </a:rPr>
              <a:t> por parte del sitio.</a:t>
            </a:r>
            <a:endParaRPr sz="2000">
              <a:solidFill>
                <a:srgbClr val="7F7F7F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7F7F7F"/>
              </a:buClr>
              <a:buSzPts val="2000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 txBox="1"/>
          <p:nvPr>
            <p:ph type="ctrTitle"/>
          </p:nvPr>
        </p:nvSpPr>
        <p:spPr>
          <a:xfrm>
            <a:off x="466037" y="3481484"/>
            <a:ext cx="12704164" cy="6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6"/>
              <a:buFont typeface="Calibri"/>
              <a:buNone/>
            </a:pPr>
            <a:r>
              <a:rPr lang="en-US" sz="3556">
                <a:solidFill>
                  <a:srgbClr val="000000"/>
                </a:solidFill>
              </a:rPr>
              <a:t>IIC2115 - Programación como Herramienta para la Ingeniería</a:t>
            </a:r>
            <a:endParaRPr sz="3556"/>
          </a:p>
        </p:txBody>
      </p:sp>
      <p:sp>
        <p:nvSpPr>
          <p:cNvPr id="332" name="Google Shape;332;p18"/>
          <p:cNvSpPr txBox="1"/>
          <p:nvPr>
            <p:ph idx="1" type="subTitle"/>
          </p:nvPr>
        </p:nvSpPr>
        <p:spPr>
          <a:xfrm>
            <a:off x="1693268" y="4378116"/>
            <a:ext cx="10159603" cy="604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111"/>
              <a:buNone/>
            </a:pPr>
            <a:r>
              <a:rPr lang="en-US" sz="311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Bases de datos relacionales y </a:t>
            </a:r>
            <a:r>
              <a:rPr lang="en-US" sz="3111">
                <a:solidFill>
                  <a:srgbClr val="7F7F7F"/>
                </a:solidFill>
              </a:rPr>
              <a:t>Web Scraping</a:t>
            </a:r>
            <a:endParaRPr sz="222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1693267" y="694896"/>
            <a:ext cx="10213399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2"/>
              <a:buFont typeface="Calibri"/>
              <a:buNone/>
            </a:pPr>
            <a:r>
              <a:rPr b="0"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3049" y="335151"/>
            <a:ext cx="1589202" cy="15892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8"/>
          <p:cNvSpPr txBox="1"/>
          <p:nvPr/>
        </p:nvSpPr>
        <p:spPr>
          <a:xfrm>
            <a:off x="9961147" y="6789950"/>
            <a:ext cx="2819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8"/>
              <a:buFont typeface="Calibri"/>
              <a:buNone/>
            </a:pPr>
            <a:r>
              <a:rPr b="1" i="0" lang="en-US" sz="177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-US" sz="1778">
                <a:latin typeface="Calibri"/>
                <a:ea typeface="Calibri"/>
                <a:cs typeface="Calibri"/>
                <a:sym typeface="Calibri"/>
              </a:rPr>
              <a:t>Pablo Seisdedos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